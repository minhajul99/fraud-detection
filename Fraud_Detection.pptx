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2" r:id="rId6"/>
    <p:sldId id="271" r:id="rId7"/>
    <p:sldId id="265" r:id="rId8"/>
    <p:sldId id="266" r:id="rId9"/>
    <p:sldId id="269" r:id="rId10"/>
    <p:sldId id="268" r:id="rId11"/>
    <p:sldId id="270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88" y="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p50 latency (ms)</c:v>
                </c:pt>
              </c:strCache>
            </c:strRef>
          </c:tx>
          <c:spPr>
            <a:solidFill>
              <a:srgbClr val="2E5BB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A52-46C0-B832-408361DF671E}"/>
              </c:ext>
            </c:extLst>
          </c:dPt>
          <c:dPt>
            <c:idx val="1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A52-46C0-B832-408361DF671E}"/>
              </c:ext>
            </c:extLst>
          </c:dPt>
          <c:dPt>
            <c:idx val="2"/>
            <c:invertIfNegative val="0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A52-46C0-B832-408361DF671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batch=1</c:v>
                </c:pt>
                <c:pt idx="1">
                  <c:v>batch=10</c:v>
                </c:pt>
                <c:pt idx="2">
                  <c:v>batch=25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2627</c:v>
                </c:pt>
                <c:pt idx="1">
                  <c:v>68</c:v>
                </c:pt>
                <c:pt idx="2">
                  <c:v>601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A52-46C0-B832-408361DF671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E8EDF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Burst (no delay)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1274</c:v>
                </c:pt>
                <c:pt idx="1">
                  <c:v>8541</c:v>
                </c:pt>
                <c:pt idx="2">
                  <c:v>15275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D8-4179-8F54-24C672CD562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Controlled (100ms delay)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17</c:v>
                </c:pt>
                <c:pt idx="1">
                  <c:v>6865</c:v>
                </c:pt>
                <c:pt idx="2">
                  <c:v>8139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CD8-4179-8F54-24C672CD56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p50 latency (ms)</c:v>
                </c:pt>
              </c:strCache>
            </c:strRef>
          </c:tx>
          <c:spPr>
            <a:solidFill>
              <a:srgbClr val="2E5BB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BCA-4C9F-81DC-50D2121011AF}"/>
              </c:ext>
            </c:extLst>
          </c:dPt>
          <c:dPt>
            <c:idx val="1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BCA-4C9F-81DC-50D2121011A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Enrich ON</c:v>
                </c:pt>
                <c:pt idx="1">
                  <c:v>Enrich OFF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1907</c:v>
                </c:pt>
                <c:pt idx="1">
                  <c:v>1687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BCA-4C9F-81DC-50D2121011A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E8EDF5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Runtime init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A1 cold</c:v>
                </c:pt>
                <c:pt idx="1">
                  <c:v>A2 cold</c:v>
                </c:pt>
                <c:pt idx="2">
                  <c:v>A1 warm</c:v>
                </c:pt>
                <c:pt idx="3">
                  <c:v>A2 warm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1093</c:v>
                </c:pt>
                <c:pt idx="1">
                  <c:v>1195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D1-43F1-82D5-5FCEC58E73B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S3 model load</c:v>
                </c:pt>
              </c:strCache>
            </c:strRef>
          </c:tx>
          <c:spPr>
            <a:solidFill>
              <a:srgbClr val="FBBF24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A1 cold</c:v>
                </c:pt>
                <c:pt idx="1">
                  <c:v>A2 cold</c:v>
                </c:pt>
                <c:pt idx="2">
                  <c:v>A1 warm</c:v>
                </c:pt>
                <c:pt idx="3">
                  <c:v>A2 warm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4540</c:v>
                </c:pt>
                <c:pt idx="1">
                  <c:v>4695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7D1-43F1-82D5-5FCEC58E73B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Inference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A1 cold</c:v>
                </c:pt>
                <c:pt idx="1">
                  <c:v>A2 cold</c:v>
                </c:pt>
                <c:pt idx="2">
                  <c:v>A1 warm</c:v>
                </c:pt>
                <c:pt idx="3">
                  <c:v>A2 warm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62</c:v>
                </c:pt>
                <c:pt idx="1">
                  <c:v>62</c:v>
                </c:pt>
                <c:pt idx="2">
                  <c:v>62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7D1-43F1-82D5-5FCEC58E73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8125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Slide 6 — Ablation Studies — Batch Size, Burst Traffic &amp; Enrichment</a:t>
            </a:r>
          </a:p>
          <a:p>
            <a:r>
              <a:rPr lang="en-US" i="1" dirty="0"/>
              <a:t>⏱ ~60 seconds</a:t>
            </a:r>
          </a:p>
          <a:p>
            <a:endParaRPr lang="en-US" dirty="0"/>
          </a:p>
          <a:p>
            <a:r>
              <a:rPr lang="en-US" dirty="0"/>
              <a:t>Three ablations isolate the effect of key operational parameters.</a:t>
            </a:r>
          </a:p>
          <a:p>
            <a:endParaRPr lang="en-US" dirty="0"/>
          </a:p>
          <a:p>
            <a:r>
              <a:rPr lang="en-US" dirty="0"/>
              <a:t>Batch size follows a non-monotonic pattern — batch=1 costs 2,627 milliseconds due to cold-start overhead, batch=25 rises to 601 milliseconds from queuing delay, and batch=10 is the sweet spot at 68 milliseconds p50 and 14.76 transactions per second.</a:t>
            </a:r>
          </a:p>
          <a:p>
            <a:endParaRPr lang="en-US" dirty="0"/>
          </a:p>
          <a:p>
            <a:r>
              <a:rPr lang="en-US" dirty="0"/>
              <a:t>Burst traffic shows a counter-intuitive result — sending without any delay inflates p50 to 1,274 milliseconds, while a 100-millisecond inter-arrival delay drops it to just 17 milliseconds — a 74-times improvement. Slower sending keeps the SQS queue empty.</a:t>
            </a:r>
          </a:p>
          <a:p>
            <a:endParaRPr lang="en-US" dirty="0"/>
          </a:p>
          <a:p>
            <a:r>
              <a:rPr lang="en-US" dirty="0"/>
              <a:t>Enrichment adds measurable overhead — enabling the identity lookup increases p50 by 220 milliseconds and p95 by over 2,200 milliseconds. Even a simulated 5-millisecond delay compounds under micro-batch queuing. Cold start details are on the next slide.</a:t>
            </a:r>
          </a:p>
          <a:p>
            <a:r>
              <a:rPr lang="en-US" b="1" dirty="0"/>
              <a:t>Slide 6 — Ablation Studies — Batch Size, Burst Traffic &amp; Enrichment</a:t>
            </a:r>
          </a:p>
          <a:p>
            <a:r>
              <a:rPr lang="en-US" i="1" dirty="0"/>
              <a:t>⏱ ~60 seconds</a:t>
            </a:r>
          </a:p>
          <a:p>
            <a:endParaRPr lang="en-US" dirty="0"/>
          </a:p>
          <a:p>
            <a:r>
              <a:rPr lang="en-US" dirty="0"/>
              <a:t>Three ablations isolate the effect of key operational parameters.</a:t>
            </a:r>
          </a:p>
          <a:p>
            <a:endParaRPr lang="en-US" dirty="0"/>
          </a:p>
          <a:p>
            <a:r>
              <a:rPr lang="en-US" dirty="0"/>
              <a:t>Batch size follows a non-monotonic pattern — batch=1 costs 2,627 milliseconds due to cold-start overhead, batch=25 rises to 601 milliseconds from queuing delay, and batch=10 is the sweet spot at 68 milliseconds p50 and 14.76 transactions per second.</a:t>
            </a:r>
          </a:p>
          <a:p>
            <a:endParaRPr lang="en-US" dirty="0"/>
          </a:p>
          <a:p>
            <a:r>
              <a:rPr lang="en-US" dirty="0"/>
              <a:t>Burst traffic shows a counter-intuitive result — sending without any delay inflates p50 to 1,274 milliseconds, while a 100-millisecond inter-arrival delay drops it to just 17 milliseconds — a 74-times improvement. Slower sending keeps the SQS queue empty.</a:t>
            </a:r>
          </a:p>
          <a:p>
            <a:endParaRPr lang="en-US" dirty="0"/>
          </a:p>
          <a:p>
            <a:r>
              <a:rPr lang="en-US" dirty="0"/>
              <a:t>Enrichment adds measurable overhead — enabling the identity lookup increases p50 by 220 milliseconds and p95 by over 2,200 milliseconds. Even a simulated 5-millisecond delay compounds under micro-batch queuing. Cold start details are on the next slide.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Slide 7 — Cold Start Analysis</a:t>
            </a:r>
          </a:p>
          <a:p>
            <a:r>
              <a:rPr lang="en-US" i="1" dirty="0"/>
              <a:t>⏱ ~45 seconds</a:t>
            </a:r>
          </a:p>
          <a:p>
            <a:endParaRPr lang="en-US" dirty="0"/>
          </a:p>
          <a:p>
            <a:r>
              <a:rPr lang="en-US" dirty="0"/>
              <a:t>The p99 tail latency observed in the main results is explained almost entirely by Lambda cold starts. A cold A1 invocation takes 5,695 milliseconds, compared to 62 milliseconds warm — a ratio of 92 to one. For A2, cold start reaches 5,952 milliseconds versus 15 milliseconds warm — a ratio of nearly 400 to one.</a:t>
            </a:r>
          </a:p>
          <a:p>
            <a:endParaRPr lang="en-US" dirty="0"/>
          </a:p>
          <a:p>
            <a:r>
              <a:rPr lang="en-US" dirty="0"/>
              <a:t>Decomposing the cold start budget reveals that 77% of the cost is S3 model loading — approximately 4.4 seconds — while runtime initialisation accounts for only about 1.1 seconds. The practical mitigation is to cache the model in Lambda’s /tmp directory after the first load, reducing subsequent cold starts from 5.7 seconds to approximately 1.1 seconds. Provisioned Concurrency eliminates cold starts entirely, at additional cost.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6400800" y="365760"/>
            <a:ext cx="109728" cy="109728"/>
          </a:xfrm>
          <a:prstGeom prst="ellipse">
            <a:avLst/>
          </a:prstGeom>
          <a:solidFill>
            <a:srgbClr val="2E5BBA">
              <a:alpha val="60000"/>
            </a:srgbClr>
          </a:solidFill>
          <a:ln w="12700">
            <a:solidFill>
              <a:srgbClr val="2E5BB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6858000" y="365760"/>
            <a:ext cx="109728" cy="109728"/>
          </a:xfrm>
          <a:prstGeom prst="ellipse">
            <a:avLst/>
          </a:prstGeom>
          <a:solidFill>
            <a:srgbClr val="2E5BBA">
              <a:alpha val="60000"/>
            </a:srgbClr>
          </a:solidFill>
          <a:ln w="12700">
            <a:solidFill>
              <a:srgbClr val="2E5BB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7315200" y="365760"/>
            <a:ext cx="109728" cy="109728"/>
          </a:xfrm>
          <a:prstGeom prst="ellipse">
            <a:avLst/>
          </a:prstGeom>
          <a:solidFill>
            <a:srgbClr val="2E5BBA">
              <a:alpha val="60000"/>
            </a:srgbClr>
          </a:solidFill>
          <a:ln w="12700">
            <a:solidFill>
              <a:srgbClr val="2E5BB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7772400" y="365760"/>
            <a:ext cx="109728" cy="109728"/>
          </a:xfrm>
          <a:prstGeom prst="ellipse">
            <a:avLst/>
          </a:prstGeom>
          <a:solidFill>
            <a:srgbClr val="2E5BBA">
              <a:alpha val="60000"/>
            </a:srgbClr>
          </a:solidFill>
          <a:ln w="12700">
            <a:solidFill>
              <a:srgbClr val="2E5BB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8229600" y="365760"/>
            <a:ext cx="109728" cy="109728"/>
          </a:xfrm>
          <a:prstGeom prst="ellipse">
            <a:avLst/>
          </a:prstGeom>
          <a:solidFill>
            <a:srgbClr val="2E5BBA">
              <a:alpha val="60000"/>
            </a:srgbClr>
          </a:solidFill>
          <a:ln w="12700">
            <a:solidFill>
              <a:srgbClr val="2E5BB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6400800" y="1280160"/>
            <a:ext cx="109728" cy="109728"/>
          </a:xfrm>
          <a:prstGeom prst="ellipse">
            <a:avLst/>
          </a:prstGeom>
          <a:solidFill>
            <a:srgbClr val="2E5BBA">
              <a:alpha val="60000"/>
            </a:srgbClr>
          </a:solidFill>
          <a:ln w="12700">
            <a:solidFill>
              <a:srgbClr val="2E5BB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>
            <a:off x="6858000" y="1280160"/>
            <a:ext cx="109728" cy="109728"/>
          </a:xfrm>
          <a:prstGeom prst="ellipse">
            <a:avLst/>
          </a:prstGeom>
          <a:solidFill>
            <a:srgbClr val="2E5BBA">
              <a:alpha val="60000"/>
            </a:srgbClr>
          </a:solidFill>
          <a:ln w="12700">
            <a:solidFill>
              <a:srgbClr val="2E5BB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7315200" y="1280160"/>
            <a:ext cx="109728" cy="109728"/>
          </a:xfrm>
          <a:prstGeom prst="ellipse">
            <a:avLst/>
          </a:prstGeom>
          <a:solidFill>
            <a:srgbClr val="2E5BBA">
              <a:alpha val="60000"/>
            </a:srgbClr>
          </a:solidFill>
          <a:ln w="12700">
            <a:solidFill>
              <a:srgbClr val="2E5BB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7772400" y="1280160"/>
            <a:ext cx="109728" cy="109728"/>
          </a:xfrm>
          <a:prstGeom prst="ellipse">
            <a:avLst/>
          </a:prstGeom>
          <a:solidFill>
            <a:srgbClr val="2E5BBA">
              <a:alpha val="60000"/>
            </a:srgbClr>
          </a:solidFill>
          <a:ln w="12700">
            <a:solidFill>
              <a:srgbClr val="2E5BB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8229600" y="1280160"/>
            <a:ext cx="109728" cy="109728"/>
          </a:xfrm>
          <a:prstGeom prst="ellipse">
            <a:avLst/>
          </a:prstGeom>
          <a:solidFill>
            <a:srgbClr val="2E5BBA">
              <a:alpha val="60000"/>
            </a:srgbClr>
          </a:solidFill>
          <a:ln w="12700">
            <a:solidFill>
              <a:srgbClr val="2E5BB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6400800" y="2194560"/>
            <a:ext cx="109728" cy="109728"/>
          </a:xfrm>
          <a:prstGeom prst="ellipse">
            <a:avLst/>
          </a:prstGeom>
          <a:solidFill>
            <a:srgbClr val="2E5BBA">
              <a:alpha val="60000"/>
            </a:srgbClr>
          </a:solidFill>
          <a:ln w="12700">
            <a:solidFill>
              <a:srgbClr val="2E5BB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6858000" y="2194560"/>
            <a:ext cx="109728" cy="109728"/>
          </a:xfrm>
          <a:prstGeom prst="ellipse">
            <a:avLst/>
          </a:prstGeom>
          <a:solidFill>
            <a:srgbClr val="2E5BBA">
              <a:alpha val="60000"/>
            </a:srgbClr>
          </a:solidFill>
          <a:ln w="12700">
            <a:solidFill>
              <a:srgbClr val="2E5BB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Shape 14"/>
          <p:cNvSpPr/>
          <p:nvPr/>
        </p:nvSpPr>
        <p:spPr>
          <a:xfrm>
            <a:off x="7315200" y="2194560"/>
            <a:ext cx="109728" cy="109728"/>
          </a:xfrm>
          <a:prstGeom prst="ellipse">
            <a:avLst/>
          </a:prstGeom>
          <a:solidFill>
            <a:srgbClr val="2E5BBA">
              <a:alpha val="60000"/>
            </a:srgbClr>
          </a:solidFill>
          <a:ln w="12700">
            <a:solidFill>
              <a:srgbClr val="2E5BB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7772400" y="2194560"/>
            <a:ext cx="109728" cy="109728"/>
          </a:xfrm>
          <a:prstGeom prst="ellipse">
            <a:avLst/>
          </a:prstGeom>
          <a:solidFill>
            <a:srgbClr val="2E5BBA">
              <a:alpha val="60000"/>
            </a:srgbClr>
          </a:solidFill>
          <a:ln w="12700">
            <a:solidFill>
              <a:srgbClr val="2E5BB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Shape 16"/>
          <p:cNvSpPr/>
          <p:nvPr/>
        </p:nvSpPr>
        <p:spPr>
          <a:xfrm>
            <a:off x="8229600" y="2194560"/>
            <a:ext cx="109728" cy="109728"/>
          </a:xfrm>
          <a:prstGeom prst="ellipse">
            <a:avLst/>
          </a:prstGeom>
          <a:solidFill>
            <a:srgbClr val="2E5BBA">
              <a:alpha val="60000"/>
            </a:srgbClr>
          </a:solidFill>
          <a:ln w="12700">
            <a:solidFill>
              <a:srgbClr val="2E5BB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Shape 17"/>
          <p:cNvSpPr/>
          <p:nvPr/>
        </p:nvSpPr>
        <p:spPr>
          <a:xfrm>
            <a:off x="6400800" y="3108960"/>
            <a:ext cx="109728" cy="109728"/>
          </a:xfrm>
          <a:prstGeom prst="ellipse">
            <a:avLst/>
          </a:prstGeom>
          <a:solidFill>
            <a:srgbClr val="2E5BBA">
              <a:alpha val="60000"/>
            </a:srgbClr>
          </a:solidFill>
          <a:ln w="12700">
            <a:solidFill>
              <a:srgbClr val="2E5BB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Shape 18"/>
          <p:cNvSpPr/>
          <p:nvPr/>
        </p:nvSpPr>
        <p:spPr>
          <a:xfrm>
            <a:off x="6858000" y="3108960"/>
            <a:ext cx="109728" cy="109728"/>
          </a:xfrm>
          <a:prstGeom prst="ellipse">
            <a:avLst/>
          </a:prstGeom>
          <a:solidFill>
            <a:srgbClr val="2E5BBA">
              <a:alpha val="60000"/>
            </a:srgbClr>
          </a:solidFill>
          <a:ln w="12700">
            <a:solidFill>
              <a:srgbClr val="2E5BB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Shape 19"/>
          <p:cNvSpPr/>
          <p:nvPr/>
        </p:nvSpPr>
        <p:spPr>
          <a:xfrm>
            <a:off x="7315200" y="3108960"/>
            <a:ext cx="109728" cy="109728"/>
          </a:xfrm>
          <a:prstGeom prst="ellipse">
            <a:avLst/>
          </a:prstGeom>
          <a:solidFill>
            <a:srgbClr val="2E5BBA">
              <a:alpha val="60000"/>
            </a:srgbClr>
          </a:solidFill>
          <a:ln w="12700">
            <a:solidFill>
              <a:srgbClr val="2E5BB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Shape 20"/>
          <p:cNvSpPr/>
          <p:nvPr/>
        </p:nvSpPr>
        <p:spPr>
          <a:xfrm>
            <a:off x="7772400" y="3108960"/>
            <a:ext cx="109728" cy="109728"/>
          </a:xfrm>
          <a:prstGeom prst="ellipse">
            <a:avLst/>
          </a:prstGeom>
          <a:solidFill>
            <a:srgbClr val="2E5BBA">
              <a:alpha val="60000"/>
            </a:srgbClr>
          </a:solidFill>
          <a:ln w="12700">
            <a:solidFill>
              <a:srgbClr val="2E5BB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Shape 21"/>
          <p:cNvSpPr/>
          <p:nvPr/>
        </p:nvSpPr>
        <p:spPr>
          <a:xfrm>
            <a:off x="8229600" y="3108960"/>
            <a:ext cx="109728" cy="109728"/>
          </a:xfrm>
          <a:prstGeom prst="ellipse">
            <a:avLst/>
          </a:prstGeom>
          <a:solidFill>
            <a:srgbClr val="2E5BBA">
              <a:alpha val="60000"/>
            </a:srgbClr>
          </a:solidFill>
          <a:ln w="12700">
            <a:solidFill>
              <a:srgbClr val="2E5BB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Shape 22"/>
          <p:cNvSpPr/>
          <p:nvPr/>
        </p:nvSpPr>
        <p:spPr>
          <a:xfrm>
            <a:off x="6400800" y="4023360"/>
            <a:ext cx="109728" cy="109728"/>
          </a:xfrm>
          <a:prstGeom prst="ellipse">
            <a:avLst/>
          </a:prstGeom>
          <a:solidFill>
            <a:srgbClr val="2E5BBA">
              <a:alpha val="60000"/>
            </a:srgbClr>
          </a:solidFill>
          <a:ln w="12700">
            <a:solidFill>
              <a:srgbClr val="2E5BB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Shape 23"/>
          <p:cNvSpPr/>
          <p:nvPr/>
        </p:nvSpPr>
        <p:spPr>
          <a:xfrm>
            <a:off x="6858000" y="4023360"/>
            <a:ext cx="109728" cy="109728"/>
          </a:xfrm>
          <a:prstGeom prst="ellipse">
            <a:avLst/>
          </a:prstGeom>
          <a:solidFill>
            <a:srgbClr val="2E5BBA">
              <a:alpha val="60000"/>
            </a:srgbClr>
          </a:solidFill>
          <a:ln w="12700">
            <a:solidFill>
              <a:srgbClr val="2E5BB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Shape 24"/>
          <p:cNvSpPr/>
          <p:nvPr/>
        </p:nvSpPr>
        <p:spPr>
          <a:xfrm>
            <a:off x="7315200" y="4023360"/>
            <a:ext cx="109728" cy="109728"/>
          </a:xfrm>
          <a:prstGeom prst="ellipse">
            <a:avLst/>
          </a:prstGeom>
          <a:solidFill>
            <a:srgbClr val="2E5BBA">
              <a:alpha val="60000"/>
            </a:srgbClr>
          </a:solidFill>
          <a:ln w="12700">
            <a:solidFill>
              <a:srgbClr val="2E5BB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Shape 25"/>
          <p:cNvSpPr/>
          <p:nvPr/>
        </p:nvSpPr>
        <p:spPr>
          <a:xfrm>
            <a:off x="7772400" y="4023360"/>
            <a:ext cx="109728" cy="109728"/>
          </a:xfrm>
          <a:prstGeom prst="ellipse">
            <a:avLst/>
          </a:prstGeom>
          <a:solidFill>
            <a:srgbClr val="2E5BBA">
              <a:alpha val="60000"/>
            </a:srgbClr>
          </a:solidFill>
          <a:ln w="12700">
            <a:solidFill>
              <a:srgbClr val="2E5BB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Shape 26"/>
          <p:cNvSpPr/>
          <p:nvPr/>
        </p:nvSpPr>
        <p:spPr>
          <a:xfrm>
            <a:off x="8229600" y="4023360"/>
            <a:ext cx="109728" cy="109728"/>
          </a:xfrm>
          <a:prstGeom prst="ellipse">
            <a:avLst/>
          </a:prstGeom>
          <a:solidFill>
            <a:srgbClr val="2E5BBA">
              <a:alpha val="60000"/>
            </a:srgbClr>
          </a:solidFill>
          <a:ln w="12700">
            <a:solidFill>
              <a:srgbClr val="2E5BB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320040" y="640080"/>
            <a:ext cx="5486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Streaming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on AWS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320040" y="26517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— Cost — Accuracy Trade-offs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Batch, Per-Event &amp; Micro-Batch Pipelines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320040" y="2487168"/>
            <a:ext cx="237744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2" name="Text 30"/>
          <p:cNvSpPr/>
          <p:nvPr/>
        </p:nvSpPr>
        <p:spPr>
          <a:xfrm>
            <a:off x="320040" y="374904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Minhajul Abedin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202483033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 6910 Services Computing Semantic Web and Cloud Computing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Memorial University of Newfoundland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0" y="10972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4800" dirty="0"/>
          </a:p>
        </p:txBody>
      </p:sp>
      <p:sp>
        <p:nvSpPr>
          <p:cNvPr id="34" name="Text 32"/>
          <p:cNvSpPr/>
          <p:nvPr/>
        </p:nvSpPr>
        <p:spPr>
          <a:xfrm>
            <a:off x="6309360" y="17830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· SQS · S3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· EventBridge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583680" y="2560320"/>
            <a:ext cx="18288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6" name="Text 34"/>
          <p:cNvSpPr/>
          <p:nvPr/>
        </p:nvSpPr>
        <p:spPr>
          <a:xfrm>
            <a:off x="6309360" y="26974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· IEEE-CIS Dataset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427 features · 3.5% fraud rate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160520" cy="4206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840480" cy="749808"/>
          </a:xfrm>
          <a:prstGeom prst="rect">
            <a:avLst/>
          </a:prstGeom>
          <a:solidFill>
            <a:srgbClr val="162050"/>
          </a:solidFill>
          <a:ln w="12700">
            <a:solidFill>
              <a:srgbClr val="2E4A8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37490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$32B+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1801368"/>
            <a:ext cx="374904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global credit card fraud losses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95144"/>
            <a:ext cx="3840480" cy="749808"/>
          </a:xfrm>
          <a:prstGeom prst="rect">
            <a:avLst/>
          </a:prstGeom>
          <a:solidFill>
            <a:srgbClr val="162050"/>
          </a:solidFill>
          <a:ln w="12700">
            <a:solidFill>
              <a:srgbClr val="2E4A8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502920" y="2340864"/>
            <a:ext cx="37490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ms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" y="2679192"/>
            <a:ext cx="374904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authorization window for real-time decisions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172968"/>
            <a:ext cx="3840480" cy="749808"/>
          </a:xfrm>
          <a:prstGeom prst="rect">
            <a:avLst/>
          </a:prstGeom>
          <a:solidFill>
            <a:srgbClr val="162050"/>
          </a:solidFill>
          <a:ln w="12700">
            <a:solidFill>
              <a:srgbClr val="2E4A8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502920" y="3218688"/>
            <a:ext cx="37490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2920" y="3557016"/>
            <a:ext cx="374904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 now dominant for event-driven ML serving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050792"/>
            <a:ext cx="3840480" cy="749808"/>
          </a:xfrm>
          <a:prstGeom prst="rect">
            <a:avLst/>
          </a:prstGeom>
          <a:solidFill>
            <a:srgbClr val="162050"/>
          </a:solidFill>
          <a:ln w="12700">
            <a:solidFill>
              <a:srgbClr val="2E4A8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502920" y="4096512"/>
            <a:ext cx="37490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02920" y="4434840"/>
            <a:ext cx="374904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controlled benchmark comparing batch vs streaming for fraud scoring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804672"/>
            <a:ext cx="4160520" cy="4206240"/>
          </a:xfrm>
          <a:prstGeom prst="rect">
            <a:avLst/>
          </a:prstGeom>
          <a:solidFill>
            <a:srgbClr val="E8EDF5"/>
          </a:solidFill>
          <a:ln w="12700">
            <a:solidFill>
              <a:srgbClr val="D0D8EA"/>
            </a:solidFill>
            <a:prstDash val="solid"/>
          </a:ln>
          <a:effectLst>
            <a:outerShdw blurRad="101600" dist="38100" dir="81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4800600" y="89611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800600" y="1417320"/>
            <a:ext cx="54864" cy="7498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4956048" y="145389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56048" y="17830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IEEE-CIS Fraud Detection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590K transactions · 427 features · 3.5% fraud rate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2295144"/>
            <a:ext cx="54864" cy="7498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4956048" y="2331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56048" y="266090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(fixed) — isolates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trade-offs from model quality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3172968"/>
            <a:ext cx="54864" cy="7498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Text 25"/>
          <p:cNvSpPr/>
          <p:nvPr/>
        </p:nvSpPr>
        <p:spPr>
          <a:xfrm>
            <a:off x="4956048" y="320954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56048" y="35387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 (batch) · A1 (per-event SQS)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(micro-batch SQS)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4050792"/>
            <a:ext cx="54864" cy="7498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0" name="Text 28"/>
          <p:cNvSpPr/>
          <p:nvPr/>
        </p:nvSpPr>
        <p:spPr>
          <a:xfrm>
            <a:off x="4956048" y="40873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56048" y="44165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 · Batch size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 traffic · Cold start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" y="5047488"/>
            <a:ext cx="8503920" cy="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3" name="Shape 31"/>
          <p:cNvSpPr/>
          <p:nvPr/>
        </p:nvSpPr>
        <p:spPr>
          <a:xfrm>
            <a:off x="320040" y="4800600"/>
            <a:ext cx="8503920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4" name="Text 32"/>
          <p:cNvSpPr/>
          <p:nvPr/>
        </p:nvSpPr>
        <p:spPr>
          <a:xfrm>
            <a:off x="411480" y="480974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reproducible, controlled evaluation of latency · cost · quality trade-offs across serverless fraud detection architectures on AWS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1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4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" dur="250" autoRev="1" fill="remov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9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" dur="25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4" dur="25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5" dur="25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" dur="25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89" dur="indefinite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build="allAtOnce" animBg="1"/>
      <p:bldP spid="6" grpId="0" animBg="1"/>
      <p:bldP spid="7" grpId="0" build="allAtOnce" animBg="1"/>
      <p:bldP spid="8" grpId="0" build="allAtOnce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E5BBA"/>
          </a:solidFill>
          <a:ln w="12700">
            <a:solidFill>
              <a:srgbClr val="2E5BB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Research Question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3931920" cy="3566160"/>
          </a:xfrm>
          <a:prstGeom prst="rect">
            <a:avLst/>
          </a:prstGeom>
          <a:solidFill>
            <a:srgbClr val="E8EDF5"/>
          </a:solidFill>
          <a:ln w="12700">
            <a:solidFill>
              <a:srgbClr val="D0D8EA"/>
            </a:solidFill>
            <a:prstDash val="solid"/>
          </a:ln>
          <a:effectLst>
            <a:outerShdw blurRad="101600" dist="38100" dir="81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389888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fraud detection must score transactions within 300 ms for authorization decisions.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real deployments face: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Bursty arrival rates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 latency overhead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cold-start penalties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 queue buildup under burst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822960"/>
            <a:ext cx="4206240" cy="3566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4709160" y="914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09160" y="14173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empirical trade-off between: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2011680"/>
            <a:ext cx="310896" cy="31089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4709160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20640" y="202082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p95/p99 end-to-end latency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2606040"/>
            <a:ext cx="310896" cy="31089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4709160" y="2606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(ii)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120640" y="261518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throughput (tx/s)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3200400"/>
            <a:ext cx="310896" cy="31089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4709160" y="3200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(iii)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20640" y="320954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transaction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09160" y="3794760"/>
            <a:ext cx="310896" cy="31089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4709160" y="3794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(iv)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120640" y="380390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quality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09160" y="43434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…between per-event, micro-batch, and batch serverless architectures on AWS?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507992"/>
            <a:ext cx="8412480" cy="502920"/>
          </a:xfrm>
          <a:prstGeom prst="rect">
            <a:avLst/>
          </a:prstGeom>
          <a:solidFill>
            <a:srgbClr val="2E5BBA"/>
          </a:solidFill>
          <a:ln w="12700">
            <a:solidFill>
              <a:srgbClr val="2E5BB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502920" y="4526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Novelty: first controlled, end-to-end latency benchmark comparing all three strategies under identical model + dataset + ablation conditions.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E5BBA"/>
          </a:solidFill>
          <a:ln w="12700">
            <a:solidFill>
              <a:srgbClr val="2E5BB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Three Pipelines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43200" cy="4572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 — Batch Baseline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389888"/>
            <a:ext cx="2743200" cy="566928"/>
          </a:xfrm>
          <a:prstGeom prst="rect">
            <a:avLst/>
          </a:prstGeom>
          <a:solidFill>
            <a:srgbClr val="F4F7FF"/>
          </a:solidFill>
          <a:ln w="19050">
            <a:solidFill>
              <a:srgbClr val="94A3B8"/>
            </a:solidFill>
            <a:prstDash val="solid"/>
          </a:ln>
          <a:effectLst>
            <a:outerShdw blurRad="101600" dist="38100" dir="81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274320" y="1389888"/>
            <a:ext cx="27432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 (1 min)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554480" y="1965960"/>
            <a:ext cx="0" cy="246888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1371600" y="21579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▼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2743200" cy="566928"/>
          </a:xfrm>
          <a:prstGeom prst="rect">
            <a:avLst/>
          </a:prstGeom>
          <a:solidFill>
            <a:srgbClr val="F4F7FF"/>
          </a:solidFill>
          <a:ln w="19050">
            <a:solidFill>
              <a:srgbClr val="94A3B8"/>
            </a:solidFill>
            <a:prstDash val="solid"/>
          </a:ln>
          <a:effectLst>
            <a:outerShdw blurRad="101600" dist="38100" dir="81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274320" y="2212848"/>
            <a:ext cx="27432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incoming/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554480" y="2788920"/>
            <a:ext cx="0" cy="246888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1371600" y="298094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035808"/>
            <a:ext cx="2743200" cy="566928"/>
          </a:xfrm>
          <a:prstGeom prst="rect">
            <a:avLst/>
          </a:prstGeom>
          <a:solidFill>
            <a:srgbClr val="F4F7FF"/>
          </a:solidFill>
          <a:ln w="19050">
            <a:solidFill>
              <a:srgbClr val="94A3B8"/>
            </a:solidFill>
            <a:prstDash val="solid"/>
          </a:ln>
          <a:effectLst>
            <a:outerShdw blurRad="101600" dist="38100" dir="81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274320" y="3035808"/>
            <a:ext cx="27432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B0 (900s)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554480" y="3611880"/>
            <a:ext cx="0" cy="246888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1371600" y="380390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▼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858768"/>
            <a:ext cx="2743200" cy="566928"/>
          </a:xfrm>
          <a:prstGeom prst="rect">
            <a:avLst/>
          </a:prstGeom>
          <a:solidFill>
            <a:srgbClr val="F4F7FF"/>
          </a:solidFill>
          <a:ln w="19050">
            <a:solidFill>
              <a:srgbClr val="94A3B8"/>
            </a:solidFill>
            <a:prstDash val="solid"/>
          </a:ln>
          <a:effectLst>
            <a:outerShdw blurRad="101600" dist="38100" dir="81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274320" y="3858768"/>
            <a:ext cx="27432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processed/ + DynamoDB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777240"/>
            <a:ext cx="2743200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3200400" y="777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— Per-Event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0" y="1389888"/>
            <a:ext cx="2743200" cy="566928"/>
          </a:xfrm>
          <a:prstGeom prst="rect">
            <a:avLst/>
          </a:prstGeom>
          <a:solidFill>
            <a:srgbClr val="F4F7FF"/>
          </a:solidFill>
          <a:ln w="1905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3200400" y="1389888"/>
            <a:ext cx="27432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 replay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80560" y="1965960"/>
            <a:ext cx="0" cy="246888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4297680" y="21579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EA5E9"/>
                </a:solidFill>
              </a:rPr>
              <a:t>▼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0" y="2212848"/>
            <a:ext cx="2743200" cy="566928"/>
          </a:xfrm>
          <a:prstGeom prst="rect">
            <a:avLst/>
          </a:prstGeom>
          <a:solidFill>
            <a:srgbClr val="F4F7FF"/>
          </a:solidFill>
          <a:ln w="1905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7" name="Text 25"/>
          <p:cNvSpPr/>
          <p:nvPr/>
        </p:nvSpPr>
        <p:spPr>
          <a:xfrm>
            <a:off x="3200400" y="2212848"/>
            <a:ext cx="27432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 fraud-queue-a1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80560" y="2788920"/>
            <a:ext cx="0" cy="246888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4297680" y="298094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EA5E9"/>
                </a:solidFill>
              </a:rPr>
              <a:t>▼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0" y="3035808"/>
            <a:ext cx="2743200" cy="566928"/>
          </a:xfrm>
          <a:prstGeom prst="rect">
            <a:avLst/>
          </a:prstGeom>
          <a:solidFill>
            <a:srgbClr val="F4F7FF"/>
          </a:solidFill>
          <a:ln w="1905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1" name="Text 29"/>
          <p:cNvSpPr/>
          <p:nvPr/>
        </p:nvSpPr>
        <p:spPr>
          <a:xfrm>
            <a:off x="3200400" y="3035808"/>
            <a:ext cx="27432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A1 (batch=1)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480560" y="3611880"/>
            <a:ext cx="0" cy="246888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3" name="Text 31"/>
          <p:cNvSpPr/>
          <p:nvPr/>
        </p:nvSpPr>
        <p:spPr>
          <a:xfrm>
            <a:off x="4297680" y="380390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EA5E9"/>
                </a:solidFill>
              </a:rPr>
              <a:t>▼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0" y="3858768"/>
            <a:ext cx="2743200" cy="566928"/>
          </a:xfrm>
          <a:prstGeom prst="rect">
            <a:avLst/>
          </a:prstGeom>
          <a:solidFill>
            <a:srgbClr val="F4F7FF"/>
          </a:solidFill>
          <a:ln w="1905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5" name="Text 33"/>
          <p:cNvSpPr/>
          <p:nvPr/>
        </p:nvSpPr>
        <p:spPr>
          <a:xfrm>
            <a:off x="3200400" y="3858768"/>
            <a:ext cx="27432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26480" y="777240"/>
            <a:ext cx="2743200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7" name="Text 35"/>
          <p:cNvSpPr/>
          <p:nvPr/>
        </p:nvSpPr>
        <p:spPr>
          <a:xfrm>
            <a:off x="6126480" y="777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— Micro-Batch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126480" y="1389888"/>
            <a:ext cx="2743200" cy="566928"/>
          </a:xfrm>
          <a:prstGeom prst="rect">
            <a:avLst/>
          </a:prstGeom>
          <a:solidFill>
            <a:srgbClr val="F4F7FF"/>
          </a:solidFill>
          <a:ln w="1905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9" name="Text 37"/>
          <p:cNvSpPr/>
          <p:nvPr/>
        </p:nvSpPr>
        <p:spPr>
          <a:xfrm>
            <a:off x="6126480" y="1389888"/>
            <a:ext cx="27432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 replay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406640" y="1965960"/>
            <a:ext cx="0" cy="246888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1" name="Text 39"/>
          <p:cNvSpPr/>
          <p:nvPr/>
        </p:nvSpPr>
        <p:spPr>
          <a:xfrm>
            <a:off x="7223760" y="21579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5CF6"/>
                </a:solidFill>
              </a:rPr>
              <a:t>▼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126480" y="2212848"/>
            <a:ext cx="2743200" cy="566928"/>
          </a:xfrm>
          <a:prstGeom prst="rect">
            <a:avLst/>
          </a:prstGeom>
          <a:solidFill>
            <a:srgbClr val="F4F7FF"/>
          </a:solidFill>
          <a:ln w="1905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3" name="Text 41"/>
          <p:cNvSpPr/>
          <p:nvPr/>
        </p:nvSpPr>
        <p:spPr>
          <a:xfrm>
            <a:off x="6126480" y="2212848"/>
            <a:ext cx="27432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 fraud-queue-a2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406640" y="2788920"/>
            <a:ext cx="0" cy="246888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5" name="Text 43"/>
          <p:cNvSpPr/>
          <p:nvPr/>
        </p:nvSpPr>
        <p:spPr>
          <a:xfrm>
            <a:off x="7223760" y="298094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5CF6"/>
                </a:solidFill>
              </a:rPr>
              <a:t>▼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126480" y="3035808"/>
            <a:ext cx="2743200" cy="566928"/>
          </a:xfrm>
          <a:prstGeom prst="rect">
            <a:avLst/>
          </a:prstGeom>
          <a:solidFill>
            <a:srgbClr val="F4F7FF"/>
          </a:solidFill>
          <a:ln w="1905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7" name="Text 45"/>
          <p:cNvSpPr/>
          <p:nvPr/>
        </p:nvSpPr>
        <p:spPr>
          <a:xfrm>
            <a:off x="6126480" y="3035808"/>
            <a:ext cx="27432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A2 (batch=10)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406640" y="3611880"/>
            <a:ext cx="0" cy="246888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9" name="Text 47"/>
          <p:cNvSpPr/>
          <p:nvPr/>
        </p:nvSpPr>
        <p:spPr>
          <a:xfrm>
            <a:off x="7223760" y="380390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5CF6"/>
                </a:solidFill>
              </a:rPr>
              <a:t>▼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126480" y="3858768"/>
            <a:ext cx="2743200" cy="566928"/>
          </a:xfrm>
          <a:prstGeom prst="rect">
            <a:avLst/>
          </a:prstGeom>
          <a:solidFill>
            <a:srgbClr val="F4F7FF"/>
          </a:solidFill>
          <a:ln w="1905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1" name="Text 49"/>
          <p:cNvSpPr/>
          <p:nvPr/>
        </p:nvSpPr>
        <p:spPr>
          <a:xfrm>
            <a:off x="6126480" y="3858768"/>
            <a:ext cx="27432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 → Score → DynamoDB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solidFill>
            <a:srgbClr val="3B1D8A"/>
          </a:solidFill>
          <a:ln w="12700">
            <a:solidFill>
              <a:srgbClr val="3B1D8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3" name="Text 51"/>
          <p:cNvSpPr/>
          <p:nvPr/>
        </p:nvSpPr>
        <p:spPr>
          <a:xfrm>
            <a:off x="365760" y="462686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Shared: Lambda Layer (</a:t>
            </a: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3.3.5 · </a:t>
            </a: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scikit-learn · libgomp.so.1 · 203 MB) | Memory: 1024 MB | Timeout: B0 900s · A1 30s · A2 60s | SQS DLQ: 3 retries | Bandwidth: ~58 MB/cold start (S3 model load) | DynamoDB fraud-results | S3 fraud-detection-minhajul99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7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2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7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2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7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7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2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3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7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Experiment Results — 1,000 Transactions Per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651760" cy="12801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26517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14.9 ms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20040" y="1565453"/>
            <a:ext cx="265176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A1 p50 latency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822960"/>
            <a:ext cx="2651760" cy="12801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3246120" y="914400"/>
            <a:ext cx="26517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42.7 ms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46120" y="1565453"/>
            <a:ext cx="265176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A2 p50 latency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822960"/>
            <a:ext cx="2651760" cy="12801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  <a:effectLst>
            <a:outerShdw blurRad="101600" dist="38100" dir="81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6172200" y="914400"/>
            <a:ext cx="26517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71.8 s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172200" y="1565453"/>
            <a:ext cx="265176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B0 p50 latency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7489531"/>
              </p:ext>
            </p:extLst>
          </p:nvPr>
        </p:nvGraphicFramePr>
        <p:xfrm>
          <a:off x="856414" y="2286000"/>
          <a:ext cx="7501425" cy="2624328"/>
        </p:xfrm>
        <a:graphic>
          <a:graphicData uri="http://schemas.openxmlformats.org/drawingml/2006/table">
            <a:tbl>
              <a:tblPr/>
              <a:tblGrid>
                <a:gridCol w="1740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 — Batch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 — Per-event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 — Micro-batch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E2E p50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71.8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14.9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42.7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E2E p95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139.9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65.5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93.9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E2E p99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145.2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p50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Cost/1M tx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build="allAtOnce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Ablation Studies—Batch Size, Burst Traffic &amp; Enrichment</a:t>
            </a:r>
          </a:p>
        </p:txBody>
      </p:sp>
      <p:sp>
        <p:nvSpPr>
          <p:cNvPr id="4" name="BoxL"/>
          <p:cNvSpPr/>
          <p:nvPr/>
        </p:nvSpPr>
        <p:spPr>
          <a:xfrm>
            <a:off x="91440" y="731520"/>
            <a:ext cx="2743200" cy="4206240"/>
          </a:xfrm>
          <a:prstGeom prst="rect">
            <a:avLst/>
          </a:prstGeom>
          <a:solidFill>
            <a:srgbClr val="E8EDF5"/>
          </a:solidFill>
          <a:ln w="12700">
            <a:solidFill>
              <a:srgbClr val="D0D8EA"/>
            </a:solidFill>
            <a:prstDash val="solid"/>
          </a:ln>
          <a:effectLst>
            <a:outerShdw blurRad="101600" dist="38100" dir="81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LHeader"/>
          <p:cNvSpPr/>
          <p:nvPr/>
        </p:nvSpPr>
        <p:spPr>
          <a:xfrm>
            <a:off x="182880" y="78624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Batch Size Comparison (A2)</a:t>
            </a:r>
          </a:p>
        </p:txBody>
      </p:sp>
      <p:sp>
        <p:nvSpPr>
          <p:cNvPr id="6" name="LSub"/>
          <p:cNvSpPr/>
          <p:nvPr/>
        </p:nvSpPr>
        <p:spPr>
          <a:xfrm>
            <a:off x="182880" y="109713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A2, no enrichment, 200 tx</a:t>
            </a:r>
          </a:p>
        </p:txBody>
      </p:sp>
      <p:graphicFrame>
        <p:nvGraphicFramePr>
          <p:cNvPr id="7" name="ChartBatch"/>
          <p:cNvGraphicFramePr/>
          <p:nvPr/>
        </p:nvGraphicFramePr>
        <p:xfrm>
          <a:off x="91440" y="1334880"/>
          <a:ext cx="27432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LCallout"/>
          <p:cNvSpPr/>
          <p:nvPr/>
        </p:nvSpPr>
        <p:spPr>
          <a:xfrm>
            <a:off x="91440" y="39873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batch=10 optimal: 68ms p50 · 14.76 tx/s</a:t>
            </a:r>
          </a:p>
        </p:txBody>
      </p:sp>
      <p:sp>
        <p:nvSpPr>
          <p:cNvPr id="9" name="BoxM"/>
          <p:cNvSpPr/>
          <p:nvPr/>
        </p:nvSpPr>
        <p:spPr>
          <a:xfrm>
            <a:off x="2926080" y="731520"/>
            <a:ext cx="3017520" cy="4206240"/>
          </a:xfrm>
          <a:prstGeom prst="rect">
            <a:avLst/>
          </a:prstGeom>
          <a:solidFill>
            <a:srgbClr val="E8EDF5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MHeader"/>
          <p:cNvSpPr/>
          <p:nvPr/>
        </p:nvSpPr>
        <p:spPr>
          <a:xfrm>
            <a:off x="3017520" y="78624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Burst vs Controlled Traffic (A1)</a:t>
            </a:r>
          </a:p>
        </p:txBody>
      </p:sp>
      <p:sp>
        <p:nvSpPr>
          <p:cNvPr id="11" name="MSub"/>
          <p:cNvSpPr/>
          <p:nvPr/>
        </p:nvSpPr>
        <p:spPr>
          <a:xfrm>
            <a:off x="3017520" y="109713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100ms delay vs no delay, 200 tx</a:t>
            </a:r>
          </a:p>
        </p:txBody>
      </p:sp>
      <p:graphicFrame>
        <p:nvGraphicFramePr>
          <p:cNvPr id="12" name="ChartBurst"/>
          <p:cNvGraphicFramePr/>
          <p:nvPr/>
        </p:nvGraphicFramePr>
        <p:xfrm>
          <a:off x="2926080" y="1334880"/>
          <a:ext cx="220056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StatBig"/>
          <p:cNvSpPr/>
          <p:nvPr/>
        </p:nvSpPr>
        <p:spPr>
          <a:xfrm>
            <a:off x="5217840" y="1334880"/>
            <a:ext cx="731520" cy="7315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74x</a:t>
            </a:r>
          </a:p>
        </p:txBody>
      </p:sp>
      <p:sp>
        <p:nvSpPr>
          <p:cNvPr id="14" name="StatLabel"/>
          <p:cNvSpPr/>
          <p:nvPr/>
        </p:nvSpPr>
        <p:spPr>
          <a:xfrm>
            <a:off x="5126400" y="20664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lower p50</a:t>
            </a:r>
          </a:p>
        </p:txBody>
      </p:sp>
      <p:sp>
        <p:nvSpPr>
          <p:cNvPr id="15" name="MCallout"/>
          <p:cNvSpPr/>
          <p:nvPr/>
        </p:nvSpPr>
        <p:spPr>
          <a:xfrm>
            <a:off x="2926080" y="3987360"/>
            <a:ext cx="301752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Sending SLOWER keeps SQS queue empty – 74x lower p50</a:t>
            </a:r>
          </a:p>
        </p:txBody>
      </p:sp>
      <p:sp>
        <p:nvSpPr>
          <p:cNvPr id="16" name="BoxR"/>
          <p:cNvSpPr/>
          <p:nvPr/>
        </p:nvSpPr>
        <p:spPr>
          <a:xfrm>
            <a:off x="6034800" y="731520"/>
            <a:ext cx="3017520" cy="4206240"/>
          </a:xfrm>
          <a:prstGeom prst="rect">
            <a:avLst/>
          </a:prstGeom>
          <a:solidFill>
            <a:srgbClr val="E8EDF5"/>
          </a:solidFill>
          <a:ln w="1905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Header"/>
          <p:cNvSpPr/>
          <p:nvPr/>
        </p:nvSpPr>
        <p:spPr>
          <a:xfrm>
            <a:off x="6126240" y="78624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Enrichment On vs Off (A2)</a:t>
            </a:r>
          </a:p>
        </p:txBody>
      </p:sp>
      <p:sp>
        <p:nvSpPr>
          <p:cNvPr id="18" name="RSub"/>
          <p:cNvSpPr/>
          <p:nvPr/>
        </p:nvSpPr>
        <p:spPr>
          <a:xfrm>
            <a:off x="6126240" y="109713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5ms identity delay, 200 tx, batch=10</a:t>
            </a:r>
          </a:p>
        </p:txBody>
      </p:sp>
      <p:graphicFrame>
        <p:nvGraphicFramePr>
          <p:cNvPr id="19" name="ChartEnrich"/>
          <p:cNvGraphicFramePr/>
          <p:nvPr/>
        </p:nvGraphicFramePr>
        <p:xfrm>
          <a:off x="6034800" y="1334880"/>
          <a:ext cx="30175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4" name="RInsight"/>
          <p:cNvSpPr/>
          <p:nvPr/>
        </p:nvSpPr>
        <p:spPr>
          <a:xfrm>
            <a:off x="6126240" y="371232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8B5CF6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Enrich ON adds ~220ms p50 overhead</a:t>
            </a:r>
          </a:p>
        </p:txBody>
      </p:sp>
      <p:sp>
        <p:nvSpPr>
          <p:cNvPr id="25" name="RCallout"/>
          <p:cNvSpPr/>
          <p:nvPr/>
        </p:nvSpPr>
        <p:spPr>
          <a:xfrm>
            <a:off x="6034800" y="3987360"/>
            <a:ext cx="301752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Cold start analysis → see next slide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2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4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7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Graphic spid="7" grpId="0">
        <p:bldAsOne/>
      </p:bldGraphic>
      <p:bldP spid="8" grpId="0" animBg="1"/>
      <p:bldP spid="10" grpId="0" animBg="1"/>
      <p:bldP spid="11" grpId="0" animBg="1"/>
      <p:bldGraphic spid="12" grpId="0">
        <p:bldAsOne/>
      </p:bldGraphic>
      <p:bldP spid="16" grpId="0" animBg="1"/>
      <p:bldP spid="17" grpId="0" animBg="1"/>
      <p:bldP spid="18" grpId="0" animBg="1"/>
      <p:bldGraphic spid="19" grpId="0">
        <p:bldAsOne/>
      </p:bldGraphic>
      <p:bldP spid="24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 Analysis — Dominant Cost Is S3 Model Loading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20040" y="804672"/>
          <a:ext cx="512064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15000" y="822960"/>
            <a:ext cx="3108960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Text 3"/>
          <p:cNvSpPr/>
          <p:nvPr/>
        </p:nvSpPr>
        <p:spPr>
          <a:xfrm>
            <a:off x="5715000" y="82296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5,695 ms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715000" y="12984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cold start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715000" y="151790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62ms warm = 92× ratio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715000" y="1828800"/>
            <a:ext cx="3108960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0" name="Text 7"/>
          <p:cNvSpPr/>
          <p:nvPr/>
        </p:nvSpPr>
        <p:spPr>
          <a:xfrm>
            <a:off x="5715000" y="182880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5,952 ms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5715000" y="230428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cold start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715000" y="252374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15ms warm = 397× ratio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715000" y="2834640"/>
            <a:ext cx="310896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4" name="Text 11"/>
          <p:cNvSpPr/>
          <p:nvPr/>
        </p:nvSpPr>
        <p:spPr>
          <a:xfrm>
            <a:off x="5715000" y="283464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~77%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5715000" y="33101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load share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715000" y="352958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cold start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715000" y="3840480"/>
            <a:ext cx="3108960" cy="914400"/>
          </a:xfrm>
          <a:prstGeom prst="rect">
            <a:avLst/>
          </a:prstGeom>
          <a:solidFill>
            <a:srgbClr val="2E5BBA"/>
          </a:solidFill>
          <a:ln w="12700">
            <a:solidFill>
              <a:srgbClr val="2E5BBA"/>
            </a:solidFill>
            <a:prstDash val="solid"/>
          </a:ln>
          <a:effectLst>
            <a:outerShdw blurRad="101600" dist="38100" dir="81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8" name="Text 15"/>
          <p:cNvSpPr/>
          <p:nvPr/>
        </p:nvSpPr>
        <p:spPr>
          <a:xfrm>
            <a:off x="5715000" y="384048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5715000" y="431596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init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715000" y="453542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layer import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20040" y="4407408"/>
            <a:ext cx="8503920" cy="594360"/>
          </a:xfrm>
          <a:prstGeom prst="rect">
            <a:avLst/>
          </a:prstGeom>
          <a:solidFill>
            <a:srgbClr val="E8EDF5"/>
          </a:solidFill>
          <a:ln w="12700">
            <a:solidFill>
              <a:srgbClr val="D0D8E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Text 19"/>
          <p:cNvSpPr/>
          <p:nvPr/>
        </p:nvSpPr>
        <p:spPr>
          <a:xfrm>
            <a:off x="415940" y="4425696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Lambda Provisioned Concurrency eliminates cold starts  |  Alternative: cache model in /tmp after first S3 load → reduces ~5.7s to ~1.1s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Design Rules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160520" cy="1783080"/>
          </a:xfrm>
          <a:prstGeom prst="rect">
            <a:avLst/>
          </a:prstGeom>
          <a:solidFill>
            <a:srgbClr val="162050"/>
          </a:solidFill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11480" cy="4114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0332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SQS batch size 10 for Lambda ML inference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" y="15544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Batch=1 amplifies cold starts (p50=2,627ms). Batch=25 adds queuing delay. Batch=10 is the sweet spot: 68ms p50, 14.76 tx/s.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160520" cy="1783080"/>
          </a:xfrm>
          <a:prstGeom prst="rect">
            <a:avLst/>
          </a:prstGeom>
          <a:solidFill>
            <a:srgbClr val="162050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>
            <a:off x="4892040" y="105156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489204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94960" y="10332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 producers to prevent SQS queue buildup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19472" y="15544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 inflates p50 latency 74×. A 100ms inter-arrival delay drops p50 from 1,274ms → 17ms. Use a token-bucket rate limiter.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880360"/>
            <a:ext cx="4160520" cy="1783080"/>
          </a:xfrm>
          <a:prstGeom prst="rect">
            <a:avLst/>
          </a:prstGeom>
          <a:solidFill>
            <a:srgbClr val="162050"/>
          </a:solidFill>
          <a:ln w="254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411480" cy="4114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45720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29992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cold starts at model-loading layer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" y="35204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init is only 1.1s. S3 model load is 4.4s (77%). Cache to /tmp after first load → cold start drops from 5.7s to 1.1s.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880360"/>
            <a:ext cx="4160520" cy="1783080"/>
          </a:xfrm>
          <a:prstGeom prst="rect">
            <a:avLst/>
          </a:prstGeom>
          <a:solidFill>
            <a:srgbClr val="162050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Shape 18"/>
          <p:cNvSpPr/>
          <p:nvPr/>
        </p:nvSpPr>
        <p:spPr>
          <a:xfrm>
            <a:off x="4892040" y="3017520"/>
            <a:ext cx="411480" cy="4114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489204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94960" y="29992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DynamoDB partition keys per pipeline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19472" y="35204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prefixes, last-write-wins silently corrupts results. Use A1#, A2#, B0# + EXPERIMENT_ID# for multi-experiment setups.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itle"/>
          <p:cNvSpPr/>
          <p:nvPr/>
        </p:nvSpPr>
        <p:spPr>
          <a:xfrm>
            <a:off x="320040" y="1828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</a:rPr>
              <a:t>Limitations &amp; Challenges</a:t>
            </a:r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320040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Box L1"/>
          <p:cNvSpPr/>
          <p:nvPr/>
        </p:nvSpPr>
        <p:spPr>
          <a:xfrm>
            <a:off x="320040" y="868680"/>
            <a:ext cx="3932280" cy="3931920"/>
          </a:xfrm>
          <a:prstGeom prst="rect">
            <a:avLst/>
          </a:prstGeom>
          <a:solidFill>
            <a:srgbClr val="1C1F35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LHeader"/>
          <p:cNvSpPr/>
          <p:nvPr/>
        </p:nvSpPr>
        <p:spPr>
          <a:xfrm>
            <a:off x="411480" y="960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</a:rPr>
              <a:t>AWS / SQS File-Size Constraints</a:t>
            </a:r>
          </a:p>
        </p:txBody>
      </p:sp>
      <p:sp>
        <p:nvSpPr>
          <p:cNvPr id="7" name="LContent"/>
          <p:cNvSpPr/>
          <p:nvPr/>
        </p:nvSpPr>
        <p:spPr>
          <a:xfrm>
            <a:off x="411480" y="1325880"/>
            <a:ext cx="36576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CA5A5"/>
                </a:solidFill>
                <a:latin typeface="Calibri" pitchFamily="34" charset="0"/>
              </a:rPr>
              <a:t>SQS message limit: 256 KB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A0B4D8"/>
                </a:solidFill>
                <a:latin typeface="Calibri" pitchFamily="34" charset="0"/>
              </a:rPr>
              <a:t>Large enriched payloads exceed inline limits; S3 pointer pattern required for records &gt;256 KB.</a:t>
            </a:r>
            <a:endParaRPr lang="en-US" sz="1000" dirty="0"/>
          </a:p>
          <a:p>
            <a:pPr marL="0" indent="0">
              <a:buNone/>
            </a:pPr>
            <a:r>
              <a:rPr lang="en-US" sz="100" dirty="0">
                <a:solidFill>
                  <a:srgbClr val="1C1F35"/>
                </a:solidFill>
                <a:latin typeface="Calibri" pitchFamily="34" charset="0"/>
              </a:rPr>
              <a:t> 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FCA5A5"/>
                </a:solidFill>
                <a:latin typeface="Calibri" pitchFamily="34" charset="0"/>
              </a:rPr>
              <a:t>Lambda layer ZIP: 50 MB unzipped limit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A0B4D8"/>
                </a:solidFill>
                <a:latin typeface="Calibri" pitchFamily="34" charset="0"/>
              </a:rPr>
              <a:t>LightGBM + numpy + scipy exceeded 50 MB ZIP; required stripping test files and aggressive cleanup. Total layer: 203 MB unzipped / fits within 250 MB extracted limit.</a:t>
            </a:r>
            <a:endParaRPr lang="en-US" sz="1000" dirty="0"/>
          </a:p>
          <a:p>
            <a:pPr marL="0" indent="0">
              <a:buNone/>
            </a:pPr>
            <a:r>
              <a:rPr lang="en-US" sz="100" dirty="0">
                <a:solidFill>
                  <a:srgbClr val="1C1F35"/>
                </a:solidFill>
                <a:latin typeface="Calibri" pitchFamily="34" charset="0"/>
              </a:rPr>
              <a:t> 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FCA5A5"/>
                </a:solidFill>
                <a:latin typeface="Calibri" pitchFamily="34" charset="0"/>
              </a:rPr>
              <a:t>Lambda deployment package: 250 MB unzipped cap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A0B4D8"/>
                </a:solidFill>
                <a:latin typeface="Calibri" pitchFamily="34" charset="0"/>
              </a:rPr>
              <a:t>Model (.txt 58 MB) + layer together approached ceiling; workaround was loading model from S3 at cold start rather than bundling inline.</a:t>
            </a:r>
            <a:endParaRPr lang="en-US" sz="1000" dirty="0"/>
          </a:p>
        </p:txBody>
      </p:sp>
      <p:sp>
        <p:nvSpPr>
          <p:cNvPr id="8" name="Box R1"/>
          <p:cNvSpPr/>
          <p:nvPr/>
        </p:nvSpPr>
        <p:spPr>
          <a:xfrm>
            <a:off x="4434840" y="868680"/>
            <a:ext cx="4389480" cy="3931920"/>
          </a:xfrm>
          <a:prstGeom prst="rect">
            <a:avLst/>
          </a:prstGeom>
          <a:solidFill>
            <a:srgbClr val="1C1F35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RHeader"/>
          <p:cNvSpPr/>
          <p:nvPr/>
        </p:nvSpPr>
        <p:spPr>
          <a:xfrm>
            <a:off x="4526280" y="960120"/>
            <a:ext cx="4115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</a:rPr>
              <a:t>Experimental &amp; System Limitations</a:t>
            </a:r>
          </a:p>
        </p:txBody>
      </p:sp>
      <p:sp>
        <p:nvSpPr>
          <p:cNvPr id="10" name="RContent"/>
          <p:cNvSpPr/>
          <p:nvPr/>
        </p:nvSpPr>
        <p:spPr>
          <a:xfrm>
            <a:off x="4526280" y="1325880"/>
            <a:ext cx="41151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</a:rPr>
              <a:t>Single-region, single-account experiment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A0B4D8"/>
                </a:solidFill>
                <a:latin typeface="Calibri" pitchFamily="34" charset="0"/>
              </a:rPr>
              <a:t>Results may differ across AWS regions or under shared-tenancy throttling. No multi-AZ or cross-region replication tested.</a:t>
            </a:r>
            <a:endParaRPr lang="en-US" sz="1000" dirty="0"/>
          </a:p>
          <a:p>
            <a:pPr marL="0" indent="0">
              <a:buNone/>
            </a:pPr>
            <a:r>
              <a:rPr lang="en-US" sz="100" dirty="0">
                <a:solidFill>
                  <a:srgbClr val="1C1F35"/>
                </a:solidFill>
                <a:latin typeface="Calibri" pitchFamily="34" charset="0"/>
              </a:rPr>
              <a:t> 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</a:rPr>
              <a:t>Synthetic replay workload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A0B4D8"/>
                </a:solidFill>
                <a:latin typeface="Calibri" pitchFamily="34" charset="0"/>
              </a:rPr>
              <a:t>IEEE-CIS dataset replayed sequentially; real fraud distributions are adversarial and temporally non-stationary.</a:t>
            </a:r>
            <a:endParaRPr lang="en-US" sz="1000" dirty="0"/>
          </a:p>
          <a:p>
            <a:pPr marL="0" indent="0">
              <a:buNone/>
            </a:pPr>
            <a:r>
              <a:rPr lang="en-US" sz="100" dirty="0">
                <a:solidFill>
                  <a:srgbClr val="1C1F35"/>
                </a:solidFill>
                <a:latin typeface="Calibri" pitchFamily="34" charset="0"/>
              </a:rPr>
              <a:t> 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</a:rPr>
              <a:t>Fixed LightGBM model — no online learning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A0B4D8"/>
                </a:solidFill>
                <a:latin typeface="Calibri" pitchFamily="34" charset="0"/>
              </a:rPr>
              <a:t>Model is locked at training time; concept drift or adversarial shifts require periodic retraining pipelines not evaluated here.</a:t>
            </a:r>
            <a:endParaRPr lang="en-US" sz="1000" dirty="0"/>
          </a:p>
          <a:p>
            <a:pPr marL="0" indent="0">
              <a:buNone/>
            </a:pPr>
            <a:r>
              <a:rPr lang="en-US" sz="100" dirty="0">
                <a:solidFill>
                  <a:srgbClr val="1C1F35"/>
                </a:solidFill>
                <a:latin typeface="Calibri" pitchFamily="34" charset="0"/>
              </a:rPr>
              <a:t> 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</a:rPr>
              <a:t>Cost model excludes data transfer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A0B4D8"/>
                </a:solidFill>
                <a:latin typeface="Calibri" pitchFamily="34" charset="0"/>
              </a:rPr>
              <a:t>$/1M tx figures cover Lambda + SQS + DynamoDB compute only; S3 egress and cross-AZ traffic costs are excluded.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6126480" y="0"/>
            <a:ext cx="3017520" cy="5143500"/>
          </a:xfrm>
          <a:prstGeom prst="rect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320040" y="1828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256032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5577840" cy="777240"/>
          </a:xfrm>
          <a:prstGeom prst="rect">
            <a:avLst/>
          </a:prstGeom>
          <a:solidFill>
            <a:srgbClr val="162050"/>
          </a:solidFill>
          <a:ln w="190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320040" cy="3200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822960" y="96926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wins latency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33502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 = 14.9ms, p95 = 65.5ms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828800"/>
            <a:ext cx="5577840" cy="777240"/>
          </a:xfrm>
          <a:prstGeom prst="rect">
            <a:avLst/>
          </a:prstGeom>
          <a:solidFill>
            <a:srgbClr val="162050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411480" y="1920240"/>
            <a:ext cx="320040" cy="3200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822960" y="188366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wins throughput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224942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14.76 tx/s at 68ms p50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743200"/>
            <a:ext cx="5577840" cy="777240"/>
          </a:xfrm>
          <a:prstGeom prst="rect">
            <a:avLst/>
          </a:prstGeom>
          <a:solidFill>
            <a:srgbClr val="162050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411480" y="2834640"/>
            <a:ext cx="320040" cy="3200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822960" y="279806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 wins cost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316382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$1.46 per million tx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657600"/>
            <a:ext cx="5577840" cy="777240"/>
          </a:xfrm>
          <a:prstGeom prst="rect">
            <a:avLst/>
          </a:prstGeom>
          <a:solidFill>
            <a:srgbClr val="162050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Shape 17"/>
          <p:cNvSpPr/>
          <p:nvPr/>
        </p:nvSpPr>
        <p:spPr>
          <a:xfrm>
            <a:off x="411480" y="3749040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822960" y="371246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quality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407822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pipelines = same fraud detection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55080" y="36576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583680" y="1325880"/>
            <a:ext cx="201168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6309360" y="14630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choice is a PURE SYSTEMS trade-off — not a quality trade-off.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09360" y="260604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factors dominate: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size, traffic rate,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 mitigation.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0040" y="44348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Future Work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0040" y="470916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 FIFO + Provisioned Concurrency for strict ordering  •  Multi-model ensembles  •  Real-time drift detection  •  Auto-scaling producers under sustained burst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7" grpId="0" animBg="1"/>
      <p:bldP spid="2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Y Text"/>
          <p:cNvSpPr/>
          <p:nvPr/>
        </p:nvSpPr>
        <p:spPr>
          <a:xfrm>
            <a:off x="320040" y="1371600"/>
            <a:ext cx="4937760" cy="91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</a:rPr>
              <a:t>Thank You</a:t>
            </a:r>
          </a:p>
        </p:txBody>
      </p:sp>
      <p:sp>
        <p:nvSpPr>
          <p:cNvPr id="5" name="Shape 3"/>
          <p:cNvSpPr/>
          <p:nvPr/>
        </p:nvSpPr>
        <p:spPr>
          <a:xfrm>
            <a:off x="320040" y="2377440"/>
            <a:ext cx="32004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Subtitle"/>
          <p:cNvSpPr/>
          <p:nvPr/>
        </p:nvSpPr>
        <p:spPr>
          <a:xfrm>
            <a:off x="320040" y="25603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</a:rPr>
              <a:t>Questions ?</a:t>
            </a:r>
          </a:p>
        </p:txBody>
      </p:sp>
      <p:sp>
        <p:nvSpPr>
          <p:cNvPr id="7" name="Contact"/>
          <p:cNvSpPr/>
          <p:nvPr/>
        </p:nvSpPr>
        <p:spPr>
          <a:xfrm>
            <a:off x="5669280" y="1828800"/>
            <a:ext cx="3291840" cy="1462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</a:rPr>
              <a:t>Md Minhajul Abedin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</a:rPr>
              <a:t>mminhajula@mun.ca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</a:rPr>
              <a:t>Memorial University of Newfoundland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</a:rPr>
              <a:t>COMP 6910</a:t>
            </a:r>
            <a:endParaRPr lang="en-US" sz="1100" dirty="0"/>
          </a:p>
        </p:txBody>
      </p:sp>
      <p:sp>
        <p:nvSpPr>
          <p:cNvPr id="8" name="Tag"/>
          <p:cNvSpPr/>
          <p:nvPr/>
        </p:nvSpPr>
        <p:spPr>
          <a:xfrm>
            <a:off x="5669280" y="3474720"/>
            <a:ext cx="3291840" cy="548640"/>
          </a:xfrm>
          <a:prstGeom prst="rect">
            <a:avLst/>
          </a:prstGeom>
          <a:solidFill>
            <a:srgbClr val="0A3D62"/>
          </a:solidFill>
          <a:ln w="12700">
            <a:solidFill>
              <a:srgbClr val="0EA5E9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DD3FC"/>
                </a:solidFill>
                <a:latin typeface="Calibri" pitchFamily="34" charset="0"/>
              </a:rPr>
              <a:t>Lambda  •  SQS  •  S3  •  DynamoDB  •  LightGBM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570</TotalTime>
  <Words>1610</Words>
  <Application>Microsoft Office PowerPoint</Application>
  <PresentationFormat>On-screen Show (16:9)</PresentationFormat>
  <Paragraphs>247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Cloud-Native Streaming Fraud Detection on AWS</dc:title>
  <dc:subject>PptxGenJS Presentation</dc:subject>
  <dc:creator>Md Minhajul Abedin</dc:creator>
  <cp:lastModifiedBy>Md. Minhajul Abedin</cp:lastModifiedBy>
  <cp:revision>7</cp:revision>
  <dcterms:created xsi:type="dcterms:W3CDTF">2026-04-03T18:05:43Z</dcterms:created>
  <dcterms:modified xsi:type="dcterms:W3CDTF">2026-04-07T11:51:40Z</dcterms:modified>
</cp:coreProperties>
</file>